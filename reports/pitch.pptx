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0000" y="2250000"/>
            <a:ext cx="103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AB4FF"/>
                </a:solidFill>
                <a:latin typeface="Microsoft JhengHei"/>
              </a:rPr>
              <a:t>THREADS 帳號互動分析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2760000"/>
            <a:ext cx="700000" cy="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0000" y="3060000"/>
            <a:ext cx="10392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這個帳號很會說故事，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760000"/>
            <a:ext cx="10392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8AB4FF"/>
                </a:solidFill>
                <a:latin typeface="Microsoft JhengHei"/>
              </a:rPr>
              <a:t>但沒有邀請讀者開口。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5500000"/>
            <a:ext cx="10392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4A3"/>
                </a:solidFill>
                <a:latin typeface="Microsoft JhengHei"/>
              </a:rPr>
              <a:t>@emoless_com　|　16 則真實貼文　|　劉怡妏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620000"/>
            <a:ext cx="10392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01　資料從哪來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960000"/>
            <a:ext cx="10392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41A21"/>
                </a:solidFill>
                <a:latin typeface="Microsoft JhengHei"/>
              </a:rPr>
              <a:t>我沒有爬 Threads。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800000"/>
            <a:ext cx="62000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0000" y="2350000"/>
            <a:ext cx="10392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141A21"/>
                </a:solidFill>
                <a:latin typeface="Microsoft JhengHei"/>
              </a:rPr>
              <a:t>未登入的頁面回傳 275 KB 的 JS 空殼，like_count 出現 0 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900000"/>
            <a:ext cx="10392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141A21"/>
                </a:solidFill>
                <a:latin typeface="Microsoft JhengHei"/>
              </a:rPr>
              <a:t>要拿到數字，只能竊取 session 或繞過登入 —— 那是題目明文禁止的。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3750000"/>
            <a:ext cx="3200000" cy="175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F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0000" y="3960000"/>
            <a:ext cx="2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2563EB"/>
                </a:solidFill>
                <a:latin typeface="Microsoft JhengHe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4600000"/>
            <a:ext cx="2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1A21"/>
                </a:solidFill>
                <a:latin typeface="Microsoft JhengHei"/>
              </a:rPr>
              <a:t>則真實貼文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4950000"/>
            <a:ext cx="2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4A3"/>
                </a:solidFill>
                <a:latin typeface="Microsoft JhengHei"/>
              </a:rPr>
              <a:t>考題 Google Sheet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4A3"/>
                </a:solidFill>
                <a:latin typeface="Microsoft JhengHei"/>
              </a:rPr>
              <a:t>公開可讀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0000" y="3750000"/>
            <a:ext cx="3200000" cy="175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F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00000" y="3960000"/>
            <a:ext cx="2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8B94A3"/>
                </a:solidFill>
                <a:latin typeface="Microsoft JhengHei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0" y="4600000"/>
            <a:ext cx="2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1A21"/>
                </a:solidFill>
                <a:latin typeface="Microsoft JhengHei"/>
              </a:rPr>
              <a:t>則合成補充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0" y="4950000"/>
            <a:ext cx="2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4A3"/>
                </a:solidFill>
                <a:latin typeface="Microsoft JhengHei"/>
              </a:rPr>
              <a:t>僅為湊足題目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4A3"/>
                </a:solidFill>
                <a:latin typeface="Microsoft JhengHei"/>
              </a:rPr>
              <a:t>要求的 30 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000" y="3750000"/>
            <a:ext cx="3200000" cy="175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F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00000" y="3960000"/>
            <a:ext cx="2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7C3AED"/>
                </a:solidFill>
                <a:latin typeface="Microsoft JhengHe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000" y="4600000"/>
            <a:ext cx="2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1A21"/>
                </a:solidFill>
                <a:latin typeface="Microsoft JhengHei"/>
              </a:rPr>
              <a:t>則進入結論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0000" y="4950000"/>
            <a:ext cx="2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4A3"/>
                </a:solidFill>
                <a:latin typeface="Microsoft JhengHei"/>
              </a:rPr>
              <a:t>合成資料不參與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4A3"/>
                </a:solidFill>
                <a:latin typeface="Microsoft JhengHei"/>
              </a:rPr>
              <a:t>任何一句分析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5750000"/>
            <a:ext cx="10392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Microsoft JhengHei"/>
              </a:rPr>
              <a:t>資料少，但每個數字都站得住。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620000"/>
            <a:ext cx="10392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02　先看資料的形狀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960000"/>
            <a:ext cx="10392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41A21"/>
                </a:solidFill>
                <a:latin typeface="Microsoft JhengHei"/>
              </a:rPr>
              <a:t>平均值會騙人。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800000"/>
            <a:ext cx="62000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0000" y="2350000"/>
            <a:ext cx="4900000" cy="150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F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40000" y="2560000"/>
            <a:ext cx="4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4A3"/>
                </a:solidFill>
                <a:latin typeface="Microsoft JhengHei"/>
              </a:rPr>
              <a:t>平均總互動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0000" y="2880000"/>
            <a:ext cx="43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8B94A3"/>
                </a:solidFill>
                <a:latin typeface="Microsoft JhengHei"/>
              </a:rPr>
              <a:t>168.69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0" y="2350000"/>
            <a:ext cx="49000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40000" y="2560000"/>
            <a:ext cx="4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563EB"/>
                </a:solidFill>
                <a:latin typeface="Microsoft JhengHei"/>
              </a:rPr>
              <a:t>中位數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0000" y="2880000"/>
            <a:ext cx="43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2563EB"/>
                </a:solidFill>
                <a:latin typeface="Microsoft JhengHei"/>
              </a:rPr>
              <a:t>39.5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4200000"/>
            <a:ext cx="10392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41A21"/>
                </a:solidFill>
                <a:latin typeface="Microsoft JhengHei"/>
              </a:rPr>
              <a:t>16 則裡，最高 846、最低 1。少數爆款把平均拉高了四倍。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900000"/>
            <a:ext cx="10392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A21"/>
                </a:solidFill>
                <a:latin typeface="Microsoft JhengHei"/>
              </a:rPr>
              <a:t>所以這份分析不看平均，</a:t>
            </a:r>
          </a:p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A21"/>
                </a:solidFill>
                <a:latin typeface="Microsoft JhengHei"/>
              </a:rPr>
              <a:t>改看「什麼樣的貼文會掉到中位數以下」。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0000" y="1150000"/>
            <a:ext cx="10392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B4FF"/>
                </a:solidFill>
                <a:latin typeface="Microsoft JhengHei"/>
              </a:rPr>
              <a:t>03　核心發現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700000"/>
            <a:ext cx="10392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互動最低的 6 則貼文，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20000"/>
            <a:ext cx="10392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8AB4FF"/>
                </a:solidFill>
                <a:latin typeface="Microsoft JhengHei"/>
              </a:rPr>
              <a:t>提問率是 0%。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3600000"/>
            <a:ext cx="4900000" cy="1600000"/>
          </a:xfrm>
          <a:prstGeom prst="roundRect">
            <a:avLst>
              <a:gd name="adj" fmla="val 5000"/>
            </a:avLst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40000" y="3820000"/>
            <a:ext cx="4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4CDD8"/>
                </a:solidFill>
                <a:latin typeface="Microsoft JhengHei"/>
              </a:rPr>
              <a:t>有提問的貼文（高互動組）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0000" y="4130000"/>
            <a:ext cx="43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icrosoft JhengHei"/>
              </a:rPr>
              <a:t>40.4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0000" y="4830000"/>
            <a:ext cx="4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4A3"/>
                </a:solidFill>
                <a:latin typeface="Microsoft JhengHei"/>
              </a:rPr>
              <a:t>平均回覆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0" y="3600000"/>
            <a:ext cx="4900000" cy="1600000"/>
          </a:xfrm>
          <a:prstGeom prst="roundRect">
            <a:avLst>
              <a:gd name="adj" fmla="val 5000"/>
            </a:avLst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40000" y="3820000"/>
            <a:ext cx="4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4CDD8"/>
                </a:solidFill>
                <a:latin typeface="Microsoft JhengHei"/>
              </a:rPr>
              <a:t>零提問的貼文（低互動組）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000" y="4130000"/>
            <a:ext cx="43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8AB4FF"/>
                </a:solidFill>
                <a:latin typeface="Microsoft JhengHei"/>
              </a:rPr>
              <a:t>0.67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0000" y="4830000"/>
            <a:ext cx="4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4A3"/>
                </a:solidFill>
                <a:latin typeface="Microsoft JhengHei"/>
              </a:rPr>
              <a:t>平均回覆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5550000"/>
            <a:ext cx="10392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4CDD8"/>
                </a:solidFill>
                <a:latin typeface="Microsoft JhengHei"/>
              </a:rPr>
              <a:t>貼文寫完就結束，讀者沒有理由留言。回覆數差了 60 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620000"/>
            <a:ext cx="10392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04　但提問只解釋了一半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960000"/>
            <a:ext cx="10392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41A21"/>
                </a:solidFill>
                <a:latin typeface="Microsoft JhengHei"/>
              </a:rPr>
              <a:t>提問帶來回覆，不保證帶來讚。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800000"/>
            <a:ext cx="62000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000" y="2420000"/>
            <a:ext cx="18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94A3"/>
                </a:solidFill>
                <a:latin typeface="Microsoft JhengHei"/>
              </a:rPr>
              <a:t>提問率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0" y="2420000"/>
            <a:ext cx="1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94A3"/>
                </a:solidFill>
                <a:latin typeface="Microsoft JhengHei"/>
              </a:rPr>
              <a:t>平均回覆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0000" y="2420000"/>
            <a:ext cx="1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94A3"/>
                </a:solidFill>
                <a:latin typeface="Microsoft JhengHei"/>
              </a:rPr>
              <a:t>平均讚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900000"/>
            <a:ext cx="18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A21"/>
                </a:solidFill>
                <a:latin typeface="Microsoft JhengHei"/>
              </a:rPr>
              <a:t>高互動組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0000" y="2900000"/>
            <a:ext cx="32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563EB"/>
                </a:solidFill>
                <a:latin typeface="Microsoft JhengHei"/>
              </a:rPr>
              <a:t>477.8 互動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000" y="2920000"/>
            <a:ext cx="18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A21"/>
                </a:solidFill>
                <a:latin typeface="Microsoft JhengHei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0000" y="2920000"/>
            <a:ext cx="16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A21"/>
                </a:solidFill>
                <a:latin typeface="Microsoft JhengHei"/>
              </a:rPr>
              <a:t>40.4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0000" y="2920000"/>
            <a:ext cx="16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A21"/>
                </a:solidFill>
                <a:latin typeface="Microsoft JhengHei"/>
              </a:rPr>
              <a:t>403.4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660000"/>
            <a:ext cx="18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A21"/>
                </a:solidFill>
                <a:latin typeface="Microsoft JhengHei"/>
              </a:rPr>
              <a:t>中互動組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0000" y="3660000"/>
            <a:ext cx="32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C3AED"/>
                </a:solidFill>
                <a:latin typeface="Microsoft JhengHei"/>
              </a:rPr>
              <a:t>51.8 互動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3680000"/>
            <a:ext cx="18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A21"/>
                </a:solidFill>
                <a:latin typeface="Microsoft JhengHei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0000" y="3680000"/>
            <a:ext cx="16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A21"/>
                </a:solidFill>
                <a:latin typeface="Microsoft JhengHei"/>
              </a:rPr>
              <a:t>3.8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00000" y="3680000"/>
            <a:ext cx="16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A21"/>
                </a:solidFill>
                <a:latin typeface="Microsoft JhengHei"/>
              </a:rPr>
              <a:t>46.4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00" y="4420000"/>
            <a:ext cx="18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A21"/>
                </a:solidFill>
                <a:latin typeface="Microsoft JhengHei"/>
              </a:rPr>
              <a:t>低互動組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0000" y="4420000"/>
            <a:ext cx="32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891B2"/>
                </a:solidFill>
                <a:latin typeface="Microsoft JhengHei"/>
              </a:rPr>
              <a:t>8.5 互動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000" y="4440000"/>
            <a:ext cx="18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A21"/>
                </a:solidFill>
                <a:latin typeface="Microsoft JhengHei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0000" y="4440000"/>
            <a:ext cx="16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A21"/>
                </a:solidFill>
                <a:latin typeface="Microsoft JhengHei"/>
              </a:rPr>
              <a:t>0.67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0000" y="4440000"/>
            <a:ext cx="16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A21"/>
                </a:solidFill>
                <a:latin typeface="Microsoft JhengHei"/>
              </a:rPr>
              <a:t>7.5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0" y="5250000"/>
            <a:ext cx="10392000" cy="100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F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900000" y="5250000"/>
            <a:ext cx="60000" cy="100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40000" y="5420000"/>
            <a:ext cx="10000000" cy="6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41A21"/>
                </a:solidFill>
                <a:latin typeface="Microsoft JhengHei"/>
              </a:rPr>
              <a:t>中互動組同樣有 40% 提問，讚數卻只有 46 —— 提問決定讀者回不回，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41A21"/>
                </a:solidFill>
                <a:latin typeface="Microsoft JhengHei"/>
              </a:rPr>
              <a:t>但決定讚數量級的是故事本身。兩者要一起到位。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620000"/>
            <a:ext cx="10392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05　排除另一個解釋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960000"/>
            <a:ext cx="10392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41A21"/>
                </a:solidFill>
                <a:latin typeface="Microsoft JhengHei"/>
              </a:rPr>
              <a:t>不是因為寫得不夠長。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800000"/>
            <a:ext cx="62000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0000" y="2540000"/>
            <a:ext cx="1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1A21"/>
                </a:solidFill>
                <a:latin typeface="Microsoft JhengHei"/>
              </a:rPr>
              <a:t>高互動組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0" y="2500000"/>
            <a:ext cx="5600000" cy="38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60000" y="2550000"/>
            <a:ext cx="16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Microsoft JhengHei"/>
              </a:rPr>
              <a:t>222.4 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320000"/>
            <a:ext cx="1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1A21"/>
                </a:solidFill>
                <a:latin typeface="Microsoft JhengHei"/>
              </a:rPr>
              <a:t>中互動組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0" y="3280000"/>
            <a:ext cx="5433812" cy="38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93812" y="3330000"/>
            <a:ext cx="16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7C3AED"/>
                </a:solidFill>
                <a:latin typeface="Microsoft JhengHei"/>
              </a:rPr>
              <a:t>215.8 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4100000"/>
            <a:ext cx="1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1A21"/>
                </a:solidFill>
                <a:latin typeface="Microsoft JhengHei"/>
              </a:rPr>
              <a:t>低互動組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4060000"/>
            <a:ext cx="5006510" cy="380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6510" y="4110000"/>
            <a:ext cx="16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91B2"/>
                </a:solidFill>
                <a:latin typeface="Microsoft JhengHei"/>
              </a:rPr>
              <a:t>198.83 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5000000"/>
            <a:ext cx="10392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41A21"/>
                </a:solidFill>
                <a:latin typeface="Microsoft JhengHei"/>
              </a:rPr>
              <a:t>三組平均字數只差 24 字。長度不是分水嶺 ——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5550000"/>
            <a:ext cx="10392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2563EB"/>
                </a:solidFill>
                <a:latin typeface="Microsoft JhengHei"/>
              </a:rPr>
              <a:t>同樣長度的貼文，有沒有提問，結果差 56 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620000"/>
            <a:ext cx="10392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06　順帶發現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960000"/>
            <a:ext cx="10392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41A21"/>
                </a:solidFill>
                <a:latin typeface="Microsoft JhengHei"/>
              </a:rPr>
              <a:t>發文時段和成效是錯開的。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800000"/>
            <a:ext cx="62000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0000" y="2500000"/>
            <a:ext cx="4900000" cy="190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F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40000" y="2730000"/>
            <a:ext cx="4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4A3"/>
                </a:solidFill>
                <a:latin typeface="Microsoft JhengHei"/>
              </a:rPr>
              <a:t>發文最密集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0000" y="3060000"/>
            <a:ext cx="4300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8B94A3"/>
                </a:solidFill>
                <a:latin typeface="Microsoft JhengHei"/>
              </a:rPr>
              <a:t>00 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0000" y="3900000"/>
            <a:ext cx="43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B94A3"/>
                </a:solidFill>
                <a:latin typeface="Microsoft JhengHei"/>
              </a:rPr>
              <a:t>平均僅 75.33 互動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0" y="2500000"/>
            <a:ext cx="4900000" cy="1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40000" y="2730000"/>
            <a:ext cx="4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563EB"/>
                </a:solidFill>
                <a:latin typeface="Microsoft JhengHei"/>
              </a:rPr>
              <a:t>互動最高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0000" y="3060000"/>
            <a:ext cx="4300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563EB"/>
                </a:solidFill>
                <a:latin typeface="Microsoft JhengHei"/>
              </a:rPr>
              <a:t>20 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000" y="3900000"/>
            <a:ext cx="43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Microsoft JhengHei"/>
              </a:rPr>
              <a:t>平均 504.33 互動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4850000"/>
            <a:ext cx="10392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141A21"/>
                </a:solidFill>
                <a:latin typeface="Microsoft JhengHei"/>
              </a:rPr>
              <a:t>最用力的時段，不是讀者最買單的時段。</a:t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141A21"/>
                </a:solidFill>
                <a:latin typeface="Microsoft JhengHei"/>
              </a:rPr>
              <a:t>這是不用增加產量就能改的事。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620000"/>
            <a:ext cx="10392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07　所以我的建議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960000"/>
            <a:ext cx="10392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41A21"/>
                </a:solidFill>
                <a:latin typeface="Microsoft JhengHei"/>
              </a:rPr>
              <a:t>三件事，按投報率排序。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800000"/>
            <a:ext cx="62000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0000" y="2400000"/>
            <a:ext cx="10392000" cy="103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F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00000" y="2400000"/>
            <a:ext cx="60000" cy="10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40000" y="258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563EB"/>
                </a:solidFill>
                <a:latin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0000" y="2570000"/>
            <a:ext cx="89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A21"/>
                </a:solidFill>
                <a:latin typeface="Microsoft JhengHei"/>
              </a:rPr>
              <a:t>每篇結尾都放一個二選一的問題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0000" y="2980000"/>
            <a:ext cx="89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4A3"/>
                </a:solidFill>
                <a:latin typeface="Microsoft JhengHei"/>
              </a:rPr>
              <a:t>全帳號互動最高的貼文就是這個寫法：624 互動、92 則回覆。故事能力已經夠了，缺的是邀請。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3580000"/>
            <a:ext cx="10392000" cy="103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F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900000" y="3580000"/>
            <a:ext cx="60000" cy="103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0000" y="376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7C3AED"/>
                </a:solidFill>
                <a:latin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0000" y="3750000"/>
            <a:ext cx="89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A21"/>
                </a:solidFill>
                <a:latin typeface="Microsoft JhengHei"/>
              </a:rPr>
              <a:t>長度守在 200–300 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0000" y="4160000"/>
            <a:ext cx="89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4A3"/>
                </a:solidFill>
                <a:latin typeface="Microsoft JhengHei"/>
              </a:rPr>
              <a:t>200 字以下平均 56 互動，200 字以上平均 281。金句型貼文留著當補充，不要當主力。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4760000"/>
            <a:ext cx="10392000" cy="103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F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00000" y="4760000"/>
            <a:ext cx="60000" cy="1030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40000" y="494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891B2"/>
                </a:solidFill>
                <a:latin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0000" y="4930000"/>
            <a:ext cx="89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A21"/>
                </a:solidFill>
                <a:latin typeface="Microsoft JhengHei"/>
              </a:rPr>
              <a:t>把最有把握的貼文挪到晚間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0000" y="5340000"/>
            <a:ext cx="89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4A3"/>
                </a:solidFill>
                <a:latin typeface="Microsoft JhengHei"/>
              </a:rPr>
              <a:t>同樣的內容、同樣的產量，只換時段。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0000" y="2300000"/>
            <a:ext cx="10392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B4FF"/>
                </a:solidFill>
                <a:latin typeface="Microsoft JhengHei"/>
              </a:rPr>
              <a:t>一句話總結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850000"/>
            <a:ext cx="10392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這個帳號不缺內容力，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550000"/>
            <a:ext cx="10392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8AB4FF"/>
                </a:solidFill>
                <a:latin typeface="Microsoft JhengHei"/>
              </a:rPr>
              <a:t>缺的是在結尾遞出一個問題。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300000"/>
            <a:ext cx="10392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8B94A3"/>
                </a:solidFill>
                <a:latin typeface="Microsoft JhengHei"/>
              </a:rPr>
              <a:t>完整報告：reports/report.pdf　|　Dashboard：Next.js + Supabase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8B94A3"/>
                </a:solidFill>
                <a:latin typeface="Microsoft JhengHei"/>
              </a:rPr>
              <a:t>資料管線與 20 項單元測試：scripts/　tests/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