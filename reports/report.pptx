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平均總互動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0891B2"/>
              </a:solidFill>
            </c:spPr>
          </c:dPt>
          <c:cat>
            <c:strRef>
              <c:f>Sheet1!$A$2:$A$4</c:f>
              <c:strCache>
                <c:ptCount val="3"/>
                <c:pt idx="0">
                  <c:v>高互動組</c:v>
                </c:pt>
                <c:pt idx="1">
                  <c:v>中互動組</c:v>
                </c:pt>
                <c:pt idx="2">
                  <c:v>低互動組</c:v>
                </c:pt>
              </c:strCache>
            </c:strRef>
          </c:cat>
          <c:val>
            <c:numRef>
              <c:f>Sheet1!$B$2:$B$4</c:f>
              <c:numCache>
                <c:formatCode>0.#</c:formatCode>
                <c:ptCount val="3"/>
                <c:pt idx="0">
                  <c:v>477.8</c:v>
                </c:pt>
                <c:pt idx="1">
                  <c:v>51.8</c:v>
                </c:pt>
                <c:pt idx="2">
                  <c:v>8.5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sz="1000">
                  <a:solidFill>
                    <a:srgbClr val="1F2933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</c:valAx>
    </c:plotArea>
    <c:dispBlanksAs val="gap"/>
  </c:chart>
  <c:txPr>
    <a:bodyPr/>
    <a:lstStyle/>
    <a:p>
      <a:pPr>
        <a:defRPr sz="1100">
          <a:solidFill>
            <a:srgbClr val="1F2933"/>
          </a:solidFill>
          <a:latin typeface="Microsoft Jheng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平均互動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dPt>
            <c:idx val="4"/>
            <c:spPr>
              <a:solidFill>
                <a:srgbClr val="2563EB"/>
              </a:solidFill>
            </c:spPr>
          </c:dPt>
          <c:dPt>
            <c:idx val="5"/>
            <c:spPr>
              <a:solidFill>
                <a:srgbClr val="2563EB"/>
              </a:solidFill>
            </c:spPr>
          </c:dPt>
          <c:cat>
            <c:strRef>
              <c:f>Sheet1!$A$2:$A$7</c:f>
              <c:strCache>
                <c:ptCount val="6"/>
                <c:pt idx="0">
                  <c:v>00 時</c:v>
                </c:pt>
                <c:pt idx="1">
                  <c:v>04 時</c:v>
                </c:pt>
                <c:pt idx="2">
                  <c:v>08 時</c:v>
                </c:pt>
                <c:pt idx="3">
                  <c:v>12 時</c:v>
                </c:pt>
                <c:pt idx="4">
                  <c:v>16 時</c:v>
                </c:pt>
                <c:pt idx="5">
                  <c:v>20 時</c:v>
                </c:pt>
              </c:strCache>
            </c:strRef>
          </c:cat>
          <c:val>
            <c:numRef>
              <c:f>Sheet1!$B$2:$B$7</c:f>
              <c:numCache>
                <c:formatCode>0.#</c:formatCode>
                <c:ptCount val="6"/>
                <c:pt idx="0">
                  <c:v>75.33</c:v>
                </c:pt>
                <c:pt idx="1">
                  <c:v>16.67</c:v>
                </c:pt>
                <c:pt idx="2">
                  <c:v>124</c:v>
                </c:pt>
                <c:pt idx="3">
                  <c:v>311.5</c:v>
                </c:pt>
                <c:pt idx="4">
                  <c:v>13</c:v>
                </c:pt>
                <c:pt idx="5">
                  <c:v>504.33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sz="1000">
                  <a:solidFill>
                    <a:srgbClr val="1F2933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2933"/>
          </a:solidFill>
          <a:latin typeface="Microsoft Jheng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平均互動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極短 (&lt;100)</c:v>
                </c:pt>
                <c:pt idx="1">
                  <c:v>短 (100-199)</c:v>
                </c:pt>
                <c:pt idx="2">
                  <c:v>中 (200-299)</c:v>
                </c:pt>
                <c:pt idx="3">
                  <c:v>長 (300+)</c:v>
                </c:pt>
              </c:strCache>
            </c:strRef>
          </c:cat>
          <c:val>
            <c:numRef>
              <c:f>Sheet1!$B$2:$B$5</c:f>
              <c:numCache>
                <c:formatCode>0.#</c:formatCode>
                <c:ptCount val="4"/>
                <c:pt idx="0">
                  <c:v>54.67</c:v>
                </c:pt>
                <c:pt idx="1">
                  <c:v>57.4</c:v>
                </c:pt>
                <c:pt idx="2">
                  <c:v>230</c:v>
                </c:pt>
                <c:pt idx="3">
                  <c:v>434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平均回覆</c:v>
                </c:pt>
              </c:strCache>
            </c:strRef>
          </c:tx>
          <c:spPr>
            <a:solidFill>
              <a:srgbClr val="0891B2"/>
            </a:solidFill>
          </c:spPr>
          <c:cat>
            <c:strRef>
              <c:f>Sheet1!$A$2:$A$5</c:f>
              <c:strCache>
                <c:ptCount val="4"/>
                <c:pt idx="0">
                  <c:v>極短 (&lt;100)</c:v>
                </c:pt>
                <c:pt idx="1">
                  <c:v>短 (100-199)</c:v>
                </c:pt>
                <c:pt idx="2">
                  <c:v>中 (200-299)</c:v>
                </c:pt>
                <c:pt idx="3">
                  <c:v>長 (300+)</c:v>
                </c:pt>
              </c:strCache>
            </c:strRef>
          </c:cat>
          <c:val>
            <c:numRef>
              <c:f>Sheet1!$C$2:$C$5</c:f>
              <c:numCache>
                <c:formatCode>0.#</c:formatCode>
                <c:ptCount val="4"/>
                <c:pt idx="0">
                  <c:v>1.33</c:v>
                </c:pt>
                <c:pt idx="1">
                  <c:v>9.8</c:v>
                </c:pt>
                <c:pt idx="2">
                  <c:v>26.67</c:v>
                </c:pt>
                <c:pt idx="3">
                  <c:v>6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sz="1000">
                  <a:solidFill>
                    <a:srgbClr val="1F2933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F2933"/>
          </a:solidFill>
          <a:latin typeface="Microsoft JhengHe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平均互動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二選一互動提問</c:v>
                </c:pt>
                <c:pt idx="1">
                  <c:v>故事敘事</c:v>
                </c:pt>
                <c:pt idx="2">
                  <c:v>自我揭露</c:v>
                </c:pt>
                <c:pt idx="3">
                  <c:v>金句/引用</c:v>
                </c:pt>
                <c:pt idx="4">
                  <c:v>故事敘述＋互動提問</c:v>
                </c:pt>
                <c:pt idx="5">
                  <c:v>立場短文</c:v>
                </c:pt>
              </c:strCache>
            </c:strRef>
          </c:cat>
          <c:val>
            <c:numRef>
              <c:f>Sheet1!$B$2:$B$7</c:f>
              <c:numCache>
                <c:formatCode>0.#</c:formatCode>
                <c:ptCount val="6"/>
                <c:pt idx="0">
                  <c:v>624</c:v>
                </c:pt>
                <c:pt idx="1">
                  <c:v>177.5</c:v>
                </c:pt>
                <c:pt idx="2">
                  <c:v>165</c:v>
                </c:pt>
                <c:pt idx="3">
                  <c:v>79.5</c:v>
                </c:pt>
                <c:pt idx="4">
                  <c:v>21</c:v>
                </c:pt>
                <c:pt idx="5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平均回覆</c:v>
                </c:pt>
              </c:strCache>
            </c:strRef>
          </c:tx>
          <c:spPr>
            <a:solidFill>
              <a:srgbClr val="0891B2"/>
            </a:solidFill>
          </c:spPr>
          <c:cat>
            <c:strRef>
              <c:f>Sheet1!$A$2:$A$7</c:f>
              <c:strCache>
                <c:ptCount val="6"/>
                <c:pt idx="0">
                  <c:v>二選一互動提問</c:v>
                </c:pt>
                <c:pt idx="1">
                  <c:v>故事敘事</c:v>
                </c:pt>
                <c:pt idx="2">
                  <c:v>自我揭露</c:v>
                </c:pt>
                <c:pt idx="3">
                  <c:v>金句/引用</c:v>
                </c:pt>
                <c:pt idx="4">
                  <c:v>故事敘述＋互動提問</c:v>
                </c:pt>
                <c:pt idx="5">
                  <c:v>立場短文</c:v>
                </c:pt>
              </c:strCache>
            </c:strRef>
          </c:cat>
          <c:val>
            <c:numRef>
              <c:f>Sheet1!$C$2:$C$7</c:f>
              <c:numCache>
                <c:formatCode>0.#</c:formatCode>
                <c:ptCount val="6"/>
                <c:pt idx="0">
                  <c:v>92</c:v>
                </c:pt>
                <c:pt idx="1">
                  <c:v>4.5</c:v>
                </c:pt>
                <c:pt idx="2">
                  <c:v>20.2</c:v>
                </c:pt>
                <c:pt idx="3">
                  <c:v>2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sz="1000">
                  <a:solidFill>
                    <a:srgbClr val="1F2933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F2933"/>
          </a:solidFill>
          <a:latin typeface="Microsoft Jheng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00000" y="2180000"/>
            <a:ext cx="760000" cy="6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500000"/>
            <a:ext cx="90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AB4FF"/>
                </a:solidFill>
                <a:latin typeface="Microsoft JhengHei"/>
              </a:rPr>
              <a:t>THREADS 帳號互動分析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420000"/>
            <a:ext cx="100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Microsoft JhengHei"/>
              </a:rPr>
              <a:t>@emoless_com 發文表現與內容策略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560000"/>
            <a:ext cx="10000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4CDD8"/>
                </a:solidFill>
                <a:latin typeface="Microsoft JhengHei"/>
              </a:rPr>
              <a:t>分析期間 2026-09-28 ~ 2026-10-01（Asia/Taipei）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4120000"/>
            <a:ext cx="10000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Microsoft JhengHei"/>
              </a:rPr>
              <a:t>真實貼文 16 則　|　合成補充 20 則　|　所有結論僅採計真實貼文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750000"/>
            <a:ext cx="100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產出時間 2026-10-10 09:24:55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20000"/>
            <a:ext cx="10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810000"/>
            <a:ext cx="10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Microsoft JhengHei"/>
              </a:rPr>
              <a:t>資料來源與方法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480000"/>
            <a:ext cx="560000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1750000"/>
            <a:ext cx="106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Microsoft JhengHei"/>
              </a:rPr>
              <a:t>Threads 公開頁面已擋登入，未登入的 HTML 不含 like_count 等欄位。取得資料只能竊取 session 或繞過登入，違反考題限制，因此不予採用。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2550000"/>
            <a:ext cx="3300000" cy="185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0000" y="2780000"/>
            <a:ext cx="28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563EB"/>
                </a:solidFill>
                <a:latin typeface="Microsoft JhengHei"/>
              </a:rPr>
              <a:t>16 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3380000"/>
            <a:ext cx="28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Microsoft JhengHei"/>
              </a:rPr>
              <a:t>真實貼文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720000"/>
            <a:ext cx="28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Microsoft JhengHei"/>
              </a:rPr>
              <a:t>考題提供的 Google Sheet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Microsoft JhengHei"/>
              </a:rPr>
              <a:t>CSV export 公開可讀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0000" y="2550000"/>
            <a:ext cx="3300000" cy="185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80000" y="2780000"/>
            <a:ext cx="28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7C3AED"/>
                </a:solidFill>
                <a:latin typeface="Microsoft JhengHei"/>
              </a:rPr>
              <a:t>20 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0" y="3380000"/>
            <a:ext cx="28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Microsoft JhengHei"/>
              </a:rPr>
              <a:t>合成補充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0" y="3720000"/>
            <a:ext cx="28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Microsoft JhengHei"/>
              </a:rPr>
              <a:t>僅為滿足「至少 30 則」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Microsoft JhengHei"/>
              </a:rPr>
              <a:t>標記 is_synthetic=true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0000" y="2550000"/>
            <a:ext cx="3300000" cy="185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80000" y="2780000"/>
            <a:ext cx="28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891B2"/>
                </a:solidFill>
                <a:latin typeface="Microsoft JhengHei"/>
              </a:rPr>
              <a:t>16 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000" y="3380000"/>
            <a:ext cx="28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Microsoft JhengHei"/>
              </a:rPr>
              <a:t>實際採計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000" y="3720000"/>
            <a:ext cx="28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Microsoft JhengHei"/>
              </a:rPr>
              <a:t>所有指標與洞察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Microsoft JhengHei"/>
              </a:rPr>
              <a:t>只採計真實貼文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000" y="4650000"/>
            <a:ext cx="10700000" cy="1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60000" y="4850000"/>
            <a:ext cx="102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分析方法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" y="5180000"/>
            <a:ext cx="102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Microsoft JhengHei"/>
              </a:rPr>
              <a:t>清理 → 特徵萃取 → 指標計算 → 依 likes+replies 三分位分組 → 各組取中位數鄰近 3–5 則套用完全相同的 NLP 特徵萃取（句數、提問、人稱、五類詞彙、高頻詞）。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20000"/>
            <a:ext cx="10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810000"/>
            <a:ext cx="10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Microsoft JhengHei"/>
              </a:rPr>
              <a:t>總覽指標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480000"/>
            <a:ext cx="560000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0000" y="1800000"/>
            <a:ext cx="2450000" cy="132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0000" y="1980000"/>
            <a:ext cx="2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平均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000" y="2300000"/>
            <a:ext cx="20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563EB"/>
                </a:solidFill>
                <a:latin typeface="Microsoft JhengHei"/>
              </a:rPr>
              <a:t>143.38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000" y="1800000"/>
            <a:ext cx="2450000" cy="132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40000" y="1980000"/>
            <a:ext cx="2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平均 reply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0000" y="2300000"/>
            <a:ext cx="20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7C3AED"/>
                </a:solidFill>
                <a:latin typeface="Microsoft JhengHei"/>
              </a:rPr>
              <a:t>14.06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1800000"/>
            <a:ext cx="2450000" cy="132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40000" y="1980000"/>
            <a:ext cx="2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平均總互動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0000" y="2300000"/>
            <a:ext cx="20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891B2"/>
                </a:solidFill>
                <a:latin typeface="Microsoft JhengHei"/>
              </a:rPr>
              <a:t>168.69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0000" y="1800000"/>
            <a:ext cx="2450000" cy="132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0000" y="1980000"/>
            <a:ext cx="2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互動中位數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0000" y="2300000"/>
            <a:ext cx="20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Microsoft JhengHei"/>
              </a:rPr>
              <a:t>39.5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0000" y="3400000"/>
          <a:ext cx="49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8000"/>
                <a:gridCol w="1862000"/>
              </a:tblGrid>
              <a:tr h="31666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指標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數值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</a:tr>
              <a:tr h="31666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貼文數（真實）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16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</a:tr>
              <a:tr h="31666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平均 repost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0.88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</a:tr>
              <a:tr h="31666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平均 quote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10.38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</a:tr>
              <a:tr h="31666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最高 / 最低總互動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846 / 1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</a:tr>
              <a:tr h="3166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平均字數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211.5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000000" y="3400000"/>
            <a:ext cx="5500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80000" y="3620000"/>
            <a:ext cx="495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Microsoft JhengHei"/>
              </a:rPr>
              <a:t>長尾分布警訊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0000" y="4000000"/>
            <a:ext cx="495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3"/>
                </a:solidFill>
                <a:latin typeface="Microsoft JhengHei"/>
              </a:rPr>
              <a:t>平均 168.69 與中位數 39.5 落差極大，代表少數爆款貼文拉高了平均。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3"/>
                </a:solidFill>
                <a:latin typeface="Microsoft Jheng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3"/>
                </a:solidFill>
                <a:latin typeface="Microsoft JhengHei"/>
              </a:rPr>
              <a:t>評估成效時應以中位數為準。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20000"/>
            <a:ext cx="10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TOP POSTS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810000"/>
            <a:ext cx="10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Microsoft JhengHei"/>
              </a:rPr>
              <a:t>互動表現最佳的 5 則貼文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480000"/>
            <a:ext cx="560000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00000" y="1850000"/>
          <a:ext cx="10700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000"/>
                <a:gridCol w="4280000"/>
                <a:gridCol w="856000"/>
                <a:gridCol w="856000"/>
                <a:gridCol w="1177000"/>
                <a:gridCol w="856000"/>
                <a:gridCol w="2247000"/>
              </a:tblGrid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摘要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讚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回覆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總互動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字數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文型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二十一歲那年，我們在便利商店外面講了一句很蠢的話。 如果三十歲我們都還是單身，就在…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735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9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846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366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故事敘事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剛剛鼓起勇氣打給我媽，跟她說我今年不打算再考教甄了。 雖然在心裡練習過很多次，她還…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504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92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624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292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二選一互動提問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存款第一次到十萬，我花了兩年七個月。 剛開始是負的。卡費欠三萬二，學貸還有十一萬。…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486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53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560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208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自我揭露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加薪 2,400。 上個月主管問我要不要接組長，開出來的就是這個數字。 責任大概多…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185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47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243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193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自我揭露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「你會跌倒、會迷路，事物會破碎，曲終人會散，這些都是人生必經的過程。」 —— 露比…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107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116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53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</a:rPr>
                        <a:t>金句/引用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000" y="5150000"/>
            <a:ext cx="107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7280"/>
                </a:solidFill>
                <a:latin typeface="Microsoft JhengHei"/>
              </a:rPr>
              <a:t>前 3 名皆為 200 字以上的第一人稱敘事，且全部收在一個具體的生活轉折上 —— 不是抒情，而是可被讀者代入的決定。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20000"/>
            <a:ext cx="10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CHART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810000"/>
            <a:ext cx="10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Microsoft JhengHei"/>
              </a:rPr>
              <a:t>三組互動分層的平均總互動數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480000"/>
            <a:ext cx="560000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00000" y="1800000"/>
          <a:ext cx="6600000" cy="3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00000" y="1800000"/>
            <a:ext cx="3800000" cy="370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60000" y="2020000"/>
            <a:ext cx="33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分組方法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0000" y="2380000"/>
            <a:ext cx="33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933"/>
                </a:solidFill>
                <a:latin typeface="Microsoft JhengHei"/>
              </a:rPr>
              <a:t>依 likes + replies 排序後取三分位，分為高 / 中 / 低三組。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000" y="3250000"/>
            <a:ext cx="33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落差倍數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0000" y="3600000"/>
            <a:ext cx="33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F2933"/>
                </a:solidFill>
                <a:latin typeface="Microsoft JhengHei"/>
              </a:rPr>
              <a:t>56×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0000" y="4250000"/>
            <a:ext cx="33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高互動組平均 477.8，低互動組僅 8.5。同一帳號、同一時期，差異來自寫法而非流量波動。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20000"/>
            <a:ext cx="10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CHART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810000"/>
            <a:ext cx="10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Microsoft JhengHei"/>
              </a:rPr>
              <a:t>發文時段 vs 平均互動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480000"/>
            <a:ext cx="560000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00000" y="1800000"/>
          <a:ext cx="6600000" cy="3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00000" y="1800000"/>
            <a:ext cx="3800000" cy="170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60000" y="2000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互動最佳時段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0000" y="2320000"/>
            <a:ext cx="33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563EB"/>
                </a:solidFill>
                <a:latin typeface="Microsoft JhengHei"/>
              </a:rPr>
              <a:t>20 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000" y="2940000"/>
            <a:ext cx="33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平均 504.33 互動（3 則）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00000" y="3700000"/>
            <a:ext cx="3800000" cy="1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60000" y="3900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發文最密集時段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0000" y="4220000"/>
            <a:ext cx="33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7C3AED"/>
                </a:solidFill>
                <a:latin typeface="Microsoft JhengHei"/>
              </a:rPr>
              <a:t>00 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0000" y="4840000"/>
            <a:ext cx="33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平均僅 75.33 互動 —— 產量與成效錯位。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20000"/>
            <a:ext cx="10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CHART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810000"/>
            <a:ext cx="10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Microsoft JhengHei"/>
              </a:rPr>
              <a:t>文字長度 vs 互動量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480000"/>
            <a:ext cx="560000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00000" y="1800000"/>
          <a:ext cx="6600000" cy="3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00000" y="1800000"/>
            <a:ext cx="3800000" cy="155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60000" y="2000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Pearson r（字數 vs 總互動）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0000" y="2320000"/>
            <a:ext cx="33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563EB"/>
                </a:solidFill>
                <a:latin typeface="Microsoft JhengHei"/>
              </a:rPr>
              <a:t>0.403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000" y="2940000"/>
            <a:ext cx="33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中等正相關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00000" y="3550000"/>
            <a:ext cx="3800000" cy="1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60000" y="3760000"/>
            <a:ext cx="33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解讀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0000" y="4120000"/>
            <a:ext cx="3300000" cy="1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933"/>
                </a:solidFill>
                <a:latin typeface="Microsoft JhengHei"/>
              </a:rPr>
              <a:t>200 字以上的平均互動明顯跳升。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933"/>
                </a:solidFill>
                <a:latin typeface="Microsoft Jheng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933"/>
                </a:solidFill>
                <a:latin typeface="Microsoft JhengHei"/>
              </a:rPr>
              <a:t>「夠長到能說完一個故事」是必要條件，但不是充分條件 —— 長度本身不會製造互動。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20000"/>
            <a:ext cx="10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CHART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810000"/>
            <a:ext cx="10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Microsoft JhengHei"/>
              </a:rPr>
              <a:t>文型 vs 平均互動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480000"/>
            <a:ext cx="560000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00000" y="1800000"/>
          <a:ext cx="10700000" cy="34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000" y="5400000"/>
            <a:ext cx="107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7280"/>
                </a:solidFill>
                <a:latin typeface="Microsoft JhengHei"/>
              </a:rPr>
              <a:t>「二選一互動提問」僅 1 則，卻拿下 624 平均互動與 92 平均回覆 —— 樣本雖小，方向明確。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20000"/>
            <a:ext cx="10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810000"/>
            <a:ext cx="10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Microsoft JhengHei"/>
              </a:rPr>
              <a:t>三組分層的內文特徵對照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480000"/>
            <a:ext cx="560000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00000" y="1850000"/>
          <a:ext cx="107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000"/>
                <a:gridCol w="963000"/>
                <a:gridCol w="1284000"/>
                <a:gridCol w="1177000"/>
                <a:gridCol w="1284000"/>
                <a:gridCol w="1177000"/>
                <a:gridCol w="1498000"/>
                <a:gridCol w="1605000"/>
              </a:tblGrid>
              <a:tr h="375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分層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則數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平均字數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平均讚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平均回覆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提問率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第二人稱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第一人稱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</a:tr>
              <a:tr h="375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高互動組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5 則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222.4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403.4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40.4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40%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2.2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7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</a:tr>
              <a:tr h="375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中互動組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5 則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215.8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46.4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3.8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40%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</a:tr>
              <a:tr h="375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低互動組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6 則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198.83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7.5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0.67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0%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4.8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000" y="3600000"/>
            <a:ext cx="107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詞彙命中（各組取樣 5 則合計）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0000" y="3980000"/>
          <a:ext cx="10700000" cy="1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000"/>
                <a:gridCol w="1669200"/>
                <a:gridCol w="1669200"/>
                <a:gridCol w="1669200"/>
                <a:gridCol w="1669200"/>
                <a:gridCol w="1669200"/>
              </a:tblGrid>
              <a:tr h="325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分層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負面情緒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正面情緒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關係詞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自我揭露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時間標記</a:t>
                      </a:r>
                    </a:p>
                  </a:txBody>
                  <a:tcPr marL="70000" marR="70000" marT="45000" marB="45000" anchor="ctr">
                    <a:solidFill>
                      <a:srgbClr val="1F2933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高互動組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11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10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中互動組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6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14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12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9</a:t>
                      </a:r>
                    </a:p>
                  </a:txBody>
                  <a:tcPr marL="70000" marR="70000" marT="40000" marB="40000" anchor="ctr">
                    <a:solidFill>
                      <a:srgbClr val="F6F8FB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低互動組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9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F2933"/>
                          </a:solidFill>
                          <a:latin typeface="Microsoft JhengHei"/>
                        </a:rPr>
                        <a:t>11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20000"/>
            <a:ext cx="10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810000"/>
            <a:ext cx="10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Microsoft JhengHei"/>
              </a:rPr>
              <a:t>跨組對照最關鍵的三個差異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480000"/>
            <a:ext cx="560000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0000" y="1800000"/>
            <a:ext cx="10700000" cy="115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0000" y="2030000"/>
            <a:ext cx="8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563EB"/>
                </a:solidFill>
                <a:latin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0000" y="2010000"/>
            <a:ext cx="94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3"/>
                </a:solidFill>
                <a:latin typeface="Microsoft JhengHei"/>
              </a:rPr>
              <a:t>提問是最強的分水嶺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370000"/>
            <a:ext cx="9400000" cy="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Microsoft JhengHei"/>
              </a:rPr>
              <a:t>高互動組與中互動組提問率同為 40%，低互動組為 0% —— 完全沒有向讀者提問，貼文寫完即結束。回覆數因此出現斷崖：40.4 vs 0.67。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000" y="3100000"/>
            <a:ext cx="10700000" cy="115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20000" y="3330000"/>
            <a:ext cx="8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7C3AED"/>
                </a:solidFill>
                <a:latin typeface="Microsoft Jheng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0000" y="3310000"/>
            <a:ext cx="94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3"/>
                </a:solidFill>
                <a:latin typeface="Microsoft JhengHei"/>
              </a:rPr>
              <a:t>第二人稱密度決定「對話感」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0000" y="3670000"/>
            <a:ext cx="9400000" cy="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Microsoft JhengHei"/>
              </a:rPr>
              <a:t>高互動組平均出現 2.2 次「你／妳」，低互動組僅 1 次。高互動貼文把讀者寫進文本，低互動貼文只是自言自語。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000" y="4400000"/>
            <a:ext cx="10700000" cy="115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0000" y="4630000"/>
            <a:ext cx="8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891B2"/>
                </a:solidFill>
                <a:latin typeface="Microsoft Jheng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0000" y="4610000"/>
            <a:ext cx="94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3"/>
                </a:solidFill>
                <a:latin typeface="Microsoft JhengHei"/>
              </a:rPr>
              <a:t>字數不是失敗主因，但有門檻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0000" y="4970000"/>
            <a:ext cx="9400000" cy="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Microsoft JhengHei"/>
              </a:rPr>
              <a:t>三組平均字數分別為 222.4、215.8、198.83 字，差距不大；但 200 字以上的分桶平均互動明顯跳升。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20000"/>
            <a:ext cx="10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810000"/>
            <a:ext cx="10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Microsoft JhengHei"/>
              </a:rPr>
              <a:t>對帳號內容策略的 3 點觀察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480000"/>
            <a:ext cx="560000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0000" y="1800000"/>
            <a:ext cx="3300000" cy="3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00000" y="1800000"/>
            <a:ext cx="3300000" cy="7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030000"/>
            <a:ext cx="27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563EB"/>
                </a:solidFill>
                <a:latin typeface="Microsoft JhengHei"/>
              </a:rPr>
              <a:t>觀察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380000"/>
            <a:ext cx="275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2933"/>
                </a:solidFill>
                <a:latin typeface="Microsoft JhengHei"/>
              </a:rPr>
              <a:t>把「提問」變成預設收尾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220000"/>
            <a:ext cx="2750000" cy="1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B7280"/>
                </a:solidFill>
                <a:latin typeface="Microsoft JhengHei"/>
              </a:rPr>
              <a:t>低互動組 6 則貼文的提問率是 0%，平均回覆僅 0.67 則；而全帳號互動最高的貼文正是「二選一互動提問」（624 互動）。故事寫作能力已經足夠，槓桿點在於每篇結尾都給讀者一個低門檻、可二選一的問題。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0000" y="1800000"/>
            <a:ext cx="3300000" cy="3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0000" y="1800000"/>
            <a:ext cx="330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0000" y="2030000"/>
            <a:ext cx="27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C3AED"/>
                </a:solidFill>
                <a:latin typeface="Microsoft JhengHei"/>
              </a:rPr>
              <a:t>觀察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0" y="2380000"/>
            <a:ext cx="275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2933"/>
                </a:solidFill>
                <a:latin typeface="Microsoft JhengHei"/>
              </a:rPr>
              <a:t>內容長度穩定在 200–300 字的敘事帶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0" y="3220000"/>
            <a:ext cx="2750000" cy="1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B7280"/>
                </a:solidFill>
                <a:latin typeface="Microsoft JhengHei"/>
              </a:rPr>
              <a:t>字數與互動呈中等正相關 (r=0.403)，200 字以上分桶的平均互動（230）遠高於 200 字以下。少於 100 字的金句型貼文雖偶有爆款，但回覆數極低，難以累積社群關係 —— 建議作為補充而非主力。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00" y="1800000"/>
            <a:ext cx="3300000" cy="3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00000" y="1800000"/>
            <a:ext cx="3300000" cy="70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0000" y="2030000"/>
            <a:ext cx="27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891B2"/>
                </a:solidFill>
                <a:latin typeface="Microsoft JhengHei"/>
              </a:rPr>
              <a:t>觀察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000" y="2380000"/>
            <a:ext cx="275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2933"/>
                </a:solidFill>
                <a:latin typeface="Microsoft JhengHei"/>
              </a:rPr>
              <a:t>把主力貼文挪到晚間時段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000" y="3220000"/>
            <a:ext cx="2750000" cy="1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B7280"/>
                </a:solidFill>
                <a:latin typeface="Microsoft JhengHei"/>
              </a:rPr>
              <a:t>目前發文最密集的是 00 時，而平均互動最高的時段是 20 時（504.33 互動）。在現有節奏下，把最有信心的「故事＋提問」貼文挪到晚間，是不需要增加產量就能提升成效的調整。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20000"/>
            <a:ext cx="10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810000"/>
            <a:ext cx="10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Microsoft JhengHei"/>
              </a:rPr>
              <a:t>已知限制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480000"/>
            <a:ext cx="560000" cy="5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0000" y="1850000"/>
            <a:ext cx="10700000" cy="66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0000" y="1980000"/>
            <a:ext cx="4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0000" y="1970000"/>
            <a:ext cx="97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933"/>
                </a:solidFill>
                <a:latin typeface="Microsoft JhengHei"/>
              </a:rPr>
              <a:t>真實樣本僅 16 則、時間跨度約 3 天，統計結論屬於方向性指標，不足以做顯著性檢定。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00" y="2630000"/>
            <a:ext cx="10700000" cy="6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20000" y="2760000"/>
            <a:ext cx="4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0000" y="2750000"/>
            <a:ext cx="97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933"/>
                </a:solidFill>
                <a:latin typeface="Microsoft JhengHei"/>
              </a:rPr>
              <a:t>Threads 公開頁面擋登入，無法取得粉絲數，因此以絕對互動數代替正規化後的互動率。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00" y="3410000"/>
            <a:ext cx="10700000" cy="66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0000" y="3540000"/>
            <a:ext cx="4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0000" y="3530000"/>
            <a:ext cx="97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933"/>
                </a:solidFill>
                <a:latin typeface="Microsoft JhengHei"/>
              </a:rPr>
              <a:t>16 則貼文全為純文字（無連結／hashtag／mention），「貼文類型」維度無鑑別力，分析改以「文型」與「主題」作為替代切角。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000" y="4190000"/>
            <a:ext cx="10700000" cy="6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0000" y="4320000"/>
            <a:ext cx="4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Microsoft Jheng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0000" y="4310000"/>
            <a:ext cx="97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933"/>
                </a:solidFill>
                <a:latin typeface="Microsoft JhengHei"/>
              </a:rPr>
              <a:t>中文斷詞採 bigram 近似法而非詞典式斷詞，關鍵字可能包含跨詞邊界的組合。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000" y="4970000"/>
            <a:ext cx="10700000" cy="66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0000" y="5100000"/>
            <a:ext cx="4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Microsoft Jheng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0000" y="5090000"/>
            <a:ext cx="97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933"/>
                </a:solidFill>
                <a:latin typeface="Microsoft JhengHei"/>
              </a:rPr>
              <a:t>合成資料不具語意價值，僅用於湊足筆數與壓力測試管線，未進入任何結論。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0000" y="2550000"/>
            <a:ext cx="100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AB4FF"/>
                </a:solidFill>
                <a:latin typeface="Microsoft JhengHei"/>
              </a:rPr>
              <a:t>一句話總結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950000"/>
            <a:ext cx="10200000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這個帳號已經很會說故事，</a:t>
            </a:r>
          </a:p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缺的是在故事結尾向讀者遞出一個問題。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5750000"/>
            <a:ext cx="100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@emoless_com　|　資料來源：考題提供之 Google Sheet　|　分析腳本 scripts/analyze.py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